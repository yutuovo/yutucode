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7C7AE-D05A-44E7-A148-40752003E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695A6-8293-435A-A1EC-AB60CD0E5A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ADCF0-DA19-4312-960C-007D888B7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BAD68-C4E2-413B-B949-5D4E250E7B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1935" y="982657"/>
            <a:ext cx="11236411" cy="4892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一、项目背景</a:t>
            </a:r>
            <a:endParaRPr lang="zh-CN" altLang="en-US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本项目基于真实场景下采集的手机多传感器数据，数据来源于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用户开车进</a:t>
            </a: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出地下车库过程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中的加速度、陀螺仪、光照、磁场、无线信号等传感器信息。经过预处理和特征提取后，最终形成了结构化的特征数据集。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数据集中包含多个与环境变化、运动状态变化相关的统计特征，能够反映用户在不同区域（如地面道路、地库内部、上下坡、入口处）时的动态特征变化。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标签列，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：目标标签字段，表示当前样本所属的场景或区域类别，总共有三类，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0-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其他，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进入地库阶段，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2-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出地库阶段</a:t>
            </a:r>
            <a:endParaRPr lang="zh-CN" altLang="en-US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其他列：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特征（由手机各传感器经过窗口处理、统计、滤波等方式得到）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或者该数据的信息（采集时间，采集人员）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000" cy="590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期末大作业选项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  <a:r>
              <a:rPr lang="zh-CN" altLang="en-US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：车辆进出地库识别任务，难度</a:t>
            </a:r>
            <a:r>
              <a:rPr lang="en-US" altLang="zh-CN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1.0</a:t>
            </a:r>
            <a:endParaRPr lang="zh-CN" altLang="en-US" sz="24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1935" y="667265"/>
            <a:ext cx="11236411" cy="627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二、任务目标</a:t>
            </a:r>
            <a:endParaRPr lang="zh-CN" altLang="en-US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目标： 根据传感器特征，预测样本所属的 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（类别），即：利用加速度、姿态、光照、磁场等特征，自动识别用户当前是否处于进地库坡道、出地库坡道或其他道路区域。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使用课程方法分析数据并训练模型，包括但不限于：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SVD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进行数据预处理，降噪，降维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使用特征分解验证特征关联系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QR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分解筛选关键特征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LU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分解设计高效求解方法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在完成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到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的基础上可以使用机器学习，深度学习等更高级算法进行对比分析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评价指标：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预测准确率（限定实时检测系统，如果出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入库前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秒到完全出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入库后</a:t>
            </a:r>
            <a:r>
              <a:rPr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40s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还未检测，则视为检测失败）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检测时延（以完全出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入库为基准，统计检测时延，注意不可以使用未来数据）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计算效率（尽量降低计算开销，提高计算速度）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模型大小（如模型文件大小、参数量）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2750" y="288995"/>
            <a:ext cx="11004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三、训练集数据说明</a:t>
            </a:r>
            <a:endParaRPr lang="en-US" altLang="zh-CN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17556" y="4022407"/>
          <a:ext cx="10706112" cy="2612253"/>
        </p:xfrm>
        <a:graphic>
          <a:graphicData uri="http://schemas.openxmlformats.org/drawingml/2006/table">
            <a:tbl>
              <a:tblPr/>
              <a:tblGrid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  <a:gridCol w="892176"/>
              </a:tblGrid>
              <a:tr h="830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effectLst/>
                        </a:rPr>
                        <a:t>-</a:t>
                      </a:r>
                      <a:r>
                        <a:rPr lang="en-US" sz="1000" dirty="0" err="1">
                          <a:effectLst/>
                        </a:rPr>
                        <a:t>100_base_station_LTE_last_first_new_station_count_robust_z_10s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gyr_variance_3s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turn_turn_count_20s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>
                          <a:effectLst/>
                        </a:rPr>
                        <a:t>-140_base_station_LTE_dominant_signal_ratio_8s</a:t>
                      </a:r>
                      <a:endParaRPr lang="fr-FR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turn_cumulative_turn_angle_20s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mag_peaks_count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-100_base_station_LTE_last_first_decrease_count_16s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>
                          <a:effectLst/>
                        </a:rPr>
                        <a:t>-140_base_station_LTE_dominant_signal_ratio_10s</a:t>
                      </a:r>
                      <a:endParaRPr lang="fr-FR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light_light_01_light_change_in_15000ms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-100_base_station_LTE_last_first_decrease_count_20s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labelArea</a:t>
                      </a:r>
                      <a:endParaRPr lang="en-US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3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count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16103</a:t>
                      </a:r>
                      <a:endParaRPr lang="en-US" altLang="zh-C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16103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mean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276284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0.0185353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0.641868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0.66001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55.7795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0.386326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2.39663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0.649062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23.0147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2.60219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0.111843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std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875061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0.072381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1.50822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0.257831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73.4198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0.6506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2.48415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0.260804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884.715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2.60892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0.416524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min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-2e+06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1e-10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0.123404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0</a:t>
                      </a:r>
                      <a:endParaRPr lang="en-US" altLang="zh-C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0.114489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-18484.7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25%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6.58344e-05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0.433093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5.1602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0.42001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-1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50%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0.000643192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0.655847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18.9255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0.63909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75%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0.67449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0.00722791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0.920861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86.4777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0.909267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max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9e+06</a:t>
                      </a:r>
                      <a:endParaRPr lang="en-US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1.95995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10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498.471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4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23336.5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effectLst/>
                        </a:rPr>
                        <a:t>19</a:t>
                      </a:r>
                      <a:endParaRPr lang="en-US" altLang="zh-CN" sz="100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effectLst/>
                        </a:rPr>
                        <a:t>2</a:t>
                      </a:r>
                      <a:endParaRPr lang="en-US" altLang="zh-C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12750" y="724540"/>
            <a:ext cx="108553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文件：`训练集数据.csv`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字段：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labelArea（标签）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：数值型类别（如 0,1,2）,0代表该类别为其他可能为行车或者进入地下车库后的行驶数据，1代表从地库隧道口到完全进入地下车库，2代表完全离开地下车库的前后5s。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其他所有列：传感器计算后的统计特征，如：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pitch/roll/yaw 的统计量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光照均值、方差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加速度模长变化量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磁场强度分布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- 滑动窗口首尾特征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训练集数据统计：</a:t>
            </a:r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2750" y="288995"/>
            <a:ext cx="1100455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三、验证集数据说明</a:t>
            </a:r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验证文件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`test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文件夹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`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里面含有分好组的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17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个文件，每个文件代表一次采集数据的完整流程，即平路行驶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车辆进或出地库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地库内行驶三个部分也是提完特征之后的数据，与训练数据的列只有标签的差异，验证文件里面是没有标签的，你的输出结果可以追加一列到表中</a:t>
            </a:r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提示：</a:t>
            </a:r>
            <a:r>
              <a:rPr lang="zh-CN" altLang="en-US" dirty="0"/>
              <a:t>训练集有标签，可以将训练集切分一部分出来测试，查看模型的拟合效果，验证文件夹里的文件用来验证，里面是不含标签列的</a:t>
            </a:r>
            <a:endParaRPr lang="en-US" altLang="zh-CN" dirty="0"/>
          </a:p>
          <a:p>
            <a:endParaRPr lang="zh-CN" alt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2750" y="288995"/>
            <a:ext cx="11004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四、部分特征可视化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190" y="0"/>
            <a:ext cx="2517494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940" y="0"/>
            <a:ext cx="25174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2750" y="206445"/>
            <a:ext cx="1100455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五、作业提交要求</a:t>
            </a:r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sz="28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3176" y="685120"/>
            <a:ext cx="11436074" cy="25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lvl="1" algn="just">
              <a:lnSpc>
                <a:spcPct val="150000"/>
              </a:lnSpc>
              <a:spcBef>
                <a:spcPts val="370"/>
              </a:spcBef>
              <a:tabLst>
                <a:tab pos="240665" algn="l"/>
              </a:tabLst>
            </a:pP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提交内容：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（每人独立提交）：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370"/>
              </a:spcBef>
              <a:buFont typeface="+mj-ea"/>
              <a:buAutoNum type="circleNumDbPlain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提交测试集预测结果，注意格式需与训练集的</a:t>
            </a: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标签数据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格式一致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370"/>
              </a:spcBef>
              <a:buFont typeface="+mj-ea"/>
              <a:buAutoNum type="circleNumDbPlain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提交实验分析报告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(Word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，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pdf)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，要求见二，任务目标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370"/>
              </a:spcBef>
              <a:buFont typeface="+mj-ea"/>
              <a:buAutoNum type="circleNumDbPlain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提交系统源码（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- 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提交所有的脚本文件，代码应可运行，并包含必要的注释说明）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1384300" lvl="2" indent="-457200" algn="just">
              <a:lnSpc>
                <a:spcPct val="150000"/>
              </a:lnSpc>
              <a:spcBef>
                <a:spcPts val="370"/>
              </a:spcBef>
              <a:buFont typeface="+mj-ea"/>
              <a:buAutoNum type="circleNumDbPlain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最后一次课之前提交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7238" y="3208888"/>
            <a:ext cx="9144000" cy="3064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370"/>
              </a:spcBef>
              <a:tabLst>
                <a:tab pos="240665" algn="l"/>
              </a:tabLst>
            </a:pPr>
            <a:r>
              <a:rPr lang="zh-CN" altLang="en-US" sz="2000" b="1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打分标准</a:t>
            </a:r>
            <a:endParaRPr lang="en-US" altLang="zh-CN" sz="2000" b="1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100" lvl="1" indent="-457200" algn="just">
              <a:lnSpc>
                <a:spcPct val="150000"/>
              </a:lnSpc>
              <a:spcBef>
                <a:spcPts val="370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理论基础和每个分解方法的实现（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  <a:endParaRPr lang="zh-CN" altLang="en-US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100" lvl="1" indent="-457200" algn="just">
              <a:lnSpc>
                <a:spcPct val="150000"/>
              </a:lnSpc>
              <a:spcBef>
                <a:spcPts val="370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数据预处理和可视化分析的质量（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  <a:endParaRPr lang="zh-CN" altLang="en-US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100" lvl="1" indent="-457200" algn="just">
              <a:lnSpc>
                <a:spcPct val="150000"/>
              </a:lnSpc>
              <a:spcBef>
                <a:spcPts val="370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模型评估与结果比较的深度（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30%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  <a:endParaRPr lang="zh-CN" altLang="en-US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100" lvl="1" indent="-457200" algn="just">
              <a:lnSpc>
                <a:spcPct val="150000"/>
              </a:lnSpc>
              <a:spcBef>
                <a:spcPts val="370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项目报告的结构、逻辑性和完整性（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10%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）；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  <a:p>
            <a:pPr marL="927100" lvl="1" indent="-457200" algn="just">
              <a:lnSpc>
                <a:spcPct val="150000"/>
              </a:lnSpc>
              <a:spcBef>
                <a:spcPts val="370"/>
              </a:spcBef>
              <a:buFont typeface="+mj-lt"/>
              <a:buAutoNum type="arabicPeriod"/>
              <a:tabLst>
                <a:tab pos="240665" algn="l"/>
              </a:tabLst>
            </a:pP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若无法实现系统，仅给出实验思路，得分上限</a:t>
            </a:r>
            <a:r>
              <a:rPr lang="en-US" altLang="zh-CN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-20</a:t>
            </a:r>
            <a:r>
              <a:rPr lang="zh-CN" altLang="en-US" sz="2000" spc="-11" dirty="0"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</a:rPr>
              <a:t>。</a:t>
            </a:r>
            <a:endParaRPr lang="en-US" altLang="zh-CN" sz="2000" spc="-11" dirty="0">
              <a:latin typeface="微软雅黑" panose="020B0503020204020204" pitchFamily="34" charset="-122"/>
              <a:ea typeface="微软雅黑" panose="020B0503020204020204" pitchFamily="34" charset="-122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2124</Words>
  <Application>WPS 演示</Application>
  <PresentationFormat>宽屏</PresentationFormat>
  <Paragraphs>289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Microsoft YaHei Light</vt:lpstr>
      <vt:lpstr>苹方-简</vt:lpstr>
      <vt:lpstr>微软雅黑</vt:lpstr>
      <vt:lpstr>Calibri</vt:lpstr>
      <vt:lpstr>汉仪书宋二KW</vt:lpstr>
      <vt:lpstr>汉仪旗黑</vt:lpstr>
      <vt:lpstr>Helvetica Neue</vt:lpstr>
      <vt:lpstr>宋体</vt:lpstr>
      <vt:lpstr>Arial Unicode MS</vt:lpstr>
      <vt:lpstr>等线 Light</vt:lpstr>
      <vt:lpstr>汉仪中等线KW</vt:lpstr>
      <vt:lpstr>等线</vt:lpstr>
      <vt:lpstr>Microsoft YaHei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Wenhua Shao</dc:creator>
  <cp:lastModifiedBy>WPS_1490701358</cp:lastModifiedBy>
  <cp:revision>9</cp:revision>
  <dcterms:created xsi:type="dcterms:W3CDTF">2025-12-22T02:14:29Z</dcterms:created>
  <dcterms:modified xsi:type="dcterms:W3CDTF">2025-12-22T02:14:29Z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FE8BBC0DFA53741B85A948692827EDF3_42</vt:lpwstr>
  </property>
  <property fmtid="{D5CDD505-2E9C-101B-9397-08002B2CF9AE}" pid="3" name="KSOProductBuildVer">
    <vt:lpwstr>2052-12.1.24031.24031</vt:lpwstr>
  </property>
</Properties>
</file>